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47A1"/>
            </a:gs>
            <a:gs pos="100000">
              <a:srgbClr val="764BA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CancerGuard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AI-Powered Cancer Detection &amp; Comprehensive Healthcare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EFB"/>
                </a:solidFill>
                <a:latin typeface="Calibri"/>
              </a:defRPr>
            </a:pPr>
            <a:r>
              <a:t>Version 1.0.0  |  Full-Stack Enterprise Healthcare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2194560" cy="13716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457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4206240"/>
            <a:ext cx="2194560" cy="1371600"/>
          </a:xfrm>
          <a:prstGeom prst="roundRect">
            <a:avLst/>
          </a:prstGeom>
          <a:solidFill>
            <a:srgbClr val="F5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239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4206240"/>
            <a:ext cx="2194560" cy="137160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89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Frontend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59" y="4206240"/>
            <a:ext cx="2194560" cy="1371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38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API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React  •  FastAPI  •  TensorFlow  •  PyTorch  •  React Native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6400800" cy="5486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C62828"/>
                </a:solidFill>
                <a:latin typeface="Calibri"/>
              </a:defRPr>
            </a:pPr>
            <a:r>
              <a:t>  Cancer is the 2nd leading cause of death globally — 10M+ deaths/year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6400800" cy="5486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C62828"/>
                </a:solidFill>
                <a:latin typeface="Calibri"/>
              </a:defRPr>
            </a:pPr>
            <a:r>
              <a:t>  Late-stage detection reduces 5-year survival rate to as low as 10%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6400800" cy="5486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C62828"/>
                </a:solidFill>
                <a:latin typeface="Calibri"/>
              </a:defRPr>
            </a:pPr>
            <a:r>
              <a:t>  Fragmented health records make it difficult to track risk over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6400800" cy="5486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C62828"/>
                </a:solidFill>
                <a:latin typeface="Calibri"/>
              </a:defRPr>
            </a:pPr>
            <a:r>
              <a:t>  Patients lack tools to actively manage their own health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6400800" cy="5486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C62828"/>
                </a:solidFill>
                <a:latin typeface="Calibri"/>
              </a:defRPr>
            </a:pPr>
            <a:r>
              <a:t>  Hospitals need integrated systems for end-to-end clinical care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5156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Our Solution</a:t>
            </a:r>
          </a:p>
          <a:p>
            <a:pPr>
              <a:defRPr sz="1400">
                <a:solidFill>
                  <a:srgbClr val="212121"/>
                </a:solidFill>
                <a:latin typeface="Calibri"/>
              </a:defRPr>
            </a:pPr>
            <a:r>
              <a:t>An AI-powered platform combining early cancer risk prediction with comprehensive health monitoring, document management, and hospital operations — accessible to everyone.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286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1565C0"/>
                </a:solidFill>
                <a:latin typeface="Calibri"/>
              </a:defRPr>
            </a:pPr>
            <a:r>
              <a:t>Backend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FastAPI 0.104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Python 3.13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SQLAlchemy 2.0 Async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JWT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383280" cy="2286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7B1FA2"/>
                </a:solidFill>
                <a:latin typeface="Calibri"/>
              </a:defRPr>
            </a:pPr>
            <a:r>
              <a:t>Frontend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React 18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TypeScript 4.9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Material UI v5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Recharts / Chart.js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383280" cy="2286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2E7D32"/>
                </a:solidFill>
                <a:latin typeface="Calibri"/>
              </a:defRPr>
            </a:pPr>
            <a:r>
              <a:t>Mobile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Expo 50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React Native 0.73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React Navigation 6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React Native Paper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286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E65100"/>
                </a:solidFill>
                <a:latin typeface="Calibri"/>
              </a:defRPr>
            </a:pPr>
            <a:r>
              <a:t>AI / ML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TensorFlow 2.15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PyTorch 2.1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XGBoost / LightGBM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SHAP / LIME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3840480"/>
            <a:ext cx="3383280" cy="2286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00695C"/>
                </a:solidFill>
                <a:latin typeface="Calibri"/>
              </a:defRPr>
            </a:pPr>
            <a:r>
              <a:t>Database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SQLite (dev)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PostgreSQL (prod)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Alembic Migrations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Async 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840480"/>
            <a:ext cx="3383280" cy="2286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C62828"/>
                </a:solidFill>
                <a:latin typeface="Calibri"/>
              </a:defRPr>
            </a:pPr>
            <a:r>
              <a:t>Security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JWT + Refresh Tokens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bcrypt Hashing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RBAC (4 roles)</a:t>
            </a:r>
          </a:p>
          <a:p>
            <a:pPr>
              <a:spcAft>
                <a:spcPts val="200"/>
              </a:spcAft>
              <a:defRPr sz="1300">
                <a:solidFill>
                  <a:srgbClr val="757575"/>
                </a:solidFill>
                <a:latin typeface="Calibri"/>
              </a:defRPr>
            </a:pPr>
            <a:r>
              <a:t>  Audit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Three Dedicated Portals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474720" cy="11887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37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User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Dashboard &amp; Health Score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AI Cancer Risk Assessment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Health Records &amp; Blood Tests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Document Upload &amp; Management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Insurance &amp; Billing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Telehealth &amp; Messaging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Wearables &amp; Smartwatch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Mental Health &amp; Wellness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Genomics &amp; Genetic Profile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Nutrition &amp; Exercise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474720" cy="1188720"/>
          </a:xfrm>
          <a:prstGeom prst="roundRect">
            <a:avLst/>
          </a:prstGeom>
          <a:solidFill>
            <a:srgbClr val="F5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Hospital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24688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Operations Dashboard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Patient Management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Lab &amp; Radiology (AI)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Pathology &amp; Specimens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Pharmacy &amp; Formulary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Emergency &amp; Triage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Surgery Scheduling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Telemedicine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Clinical Trials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Quality &amp;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47472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Admin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System Monitoring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User Management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Hospital Management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AI Model Management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Audit Logs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Security &amp; Compliance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Billing &amp; Revenue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Platform Analytics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Configuration</a:t>
            </a:r>
          </a:p>
          <a:p>
            <a:pPr>
              <a:spcAft>
                <a:spcPts val="6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• Workforce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User Portal —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🎯  AI Cancer Risk Assessment (multi-model ensemble)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📊  Health Dashboard with live vital signs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📁  Medical Document Upload &amp; Management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🛡️  Insurance Policy &amp; Claims Tracking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⌚  Smartwatch &amp; Wearable Integration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🩸  Blood Tests &amp; Biomarker Tracking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💊  Medication Management &amp; Adherence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📅  Appointment Scheduling &amp; Reminders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🧬  Genetic Profile &amp; Genomics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🧠  Mental Health (CBT, Mindfulness, Crisis)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🥗  Diet, Nutrition &amp; Hydration Logging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🏃  Exercise &amp; Fitness Tracking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📹  Telehealth Video Consultations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💬  Secure Messaging with Care Team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📚  Health Education &amp; Quizzes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🩺  Screening Schedule &amp; Reminders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👨‍👩‍👧  Family Health History &amp; Hereditary Risk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🩸  Blood Donor Registration &amp; Matching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💰  Billing &amp; Payment Tracking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🏆  Gamification &amp; Health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Hospital Portal — Clinical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📋  Patient Management &amp; Demographics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🏥  Bed Management &amp; Occupancy Tracking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🔬  Lab Management &amp; Quality Control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📷  Radiology with AI-Assisted Reads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🧫  Pathology (Specimens, Slides, Tumor Board)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💊  Pharmacy &amp; Formulary Management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🚑  Emergency (Triage, Sepsis, Stroke Screening)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🩸  Blood Bank &amp; Cross-Matching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🔪  Surgery Scheduling &amp; Case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📹  Telemedicine &amp; Virtual Waiting Room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🧬  Genomics Lab Workflows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📊  Clinical Decision Support &amp; Guidelines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🧪  Clinical Trials Management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✅  Quality &amp; Safety (Incidents, Infection Control)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📦  Supply Chain &amp; Asset Tracking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👥  Staff Directory &amp; Workforce Management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📊  Population Health &amp; Disease Registries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📈  AI Analytics &amp; Predictive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32720" cy="6400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565C0"/>
                </a:solidFill>
                <a:latin typeface="Calibri"/>
              </a:defRPr>
            </a:pPr>
            <a:r>
              <a:t>Client Layer:  React Web App (89 pages)  |  Expo Mobile App  |  Swagger API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Calibri"/>
              </a:defRPr>
            </a:pPr>
            <a:r>
              <a:t>⬇  HTTPS / REST API  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332720" cy="6400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E7D32"/>
                </a:solidFill>
                <a:latin typeface="Calibri"/>
              </a:defRPr>
            </a:pPr>
            <a:r>
              <a:t>API Gateway:  CORS Middleware → JWT Authentication → Request Timing → Audit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10332720" cy="640080"/>
          </a:xfrm>
          <a:prstGeom prst="roundRect">
            <a:avLst/>
          </a:prstGeom>
          <a:solidFill>
            <a:srgbClr val="FDF5E6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E65100"/>
                </a:solidFill>
                <a:latin typeface="Calibri"/>
              </a:defRPr>
            </a:pPr>
            <a:r>
              <a:t>Application Layer:  38 API Router Modules  →  Service Layer  →  Pydantic Validation  |  457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10332720" cy="6400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64BA2"/>
                </a:solidFill>
                <a:latin typeface="Calibri"/>
              </a:defRPr>
            </a:pPr>
            <a:r>
              <a:t>Data Access Layer:  SQLAlchemy 2.0 Async ORM  |  40 Model Files  |  239 Tables  |  UUID PKs  |  Soft Delete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937760"/>
            <a:ext cx="10332720" cy="6400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57575"/>
                </a:solidFill>
                <a:latin typeface="Calibri"/>
              </a:defRPr>
            </a:pPr>
            <a:r>
              <a:t>Database:  SQLite (development)  |  PostgreSQL (production)  |  Alembic Migrations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577840"/>
            <a:ext cx="10332720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E65100"/>
                </a:solidFill>
                <a:latin typeface="Calibri"/>
              </a:defRPr>
            </a:pPr>
            <a:r>
              <a:t>AI/ML Engine:  TensorFlow  |  PyTorch  |  XGBoost  |  LightGBM  |  CatBoost  |  SHAP / LIME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Data Model — 239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Models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User &amp;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User, Session, Preference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 &amp; Health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Patient, Records, Vitals, Labs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Cancer &amp;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Screening, RiskAssessment,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Wearables &amp; IoT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Glucose, ECG, Gait, Sleep, SpO2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Genomics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Sequencing, Variants, LiquidBiopsy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Clinical Trials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Protocol, Participants, Visits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Imaging &amp; Pathology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Radiology, AI Reads, Specimens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Billing &amp; Insurance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Invoice, Claims, PriorAuth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Messages, Referrals, Telehealth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Quality &amp; Safety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Incidents, Infections, Checklists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Mental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CBT, Mindfulness, Crisis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Nutrition &amp; Rehab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MealPlan, FoodLog, TherapySessions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Education &amp;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Resources, Quizzes, Gamification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Supply Chain &amp; Workforce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Inventory, Equipment, Scheduling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Social &amp; Emergency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SDOH, Triage, Sepsis, Trauma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System &amp; Documents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Config, Audit, Documents, Notifications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Security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144000" cy="5486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121"/>
                </a:solidFill>
                <a:latin typeface="Calibri"/>
              </a:defRPr>
            </a:pPr>
            <a:r>
              <a:t>  🔒  Layer 1: CORS  —  Origin-based access control whitelist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755648"/>
            <a:ext cx="9144000" cy="5486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121"/>
                </a:solidFill>
                <a:latin typeface="Calibri"/>
              </a:defRPr>
            </a:pPr>
            <a:r>
              <a:t>  🔒  Layer 2: JWT Auth  —  Access tokens (15 min) + Refresh tokens (7 days)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414015"/>
            <a:ext cx="9144000" cy="54864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121"/>
                </a:solidFill>
                <a:latin typeface="Calibri"/>
              </a:defRPr>
            </a:pPr>
            <a:r>
              <a:t>  🔒  Layer 3: RBAC  —  Role-Based Access: Patient / Doctor / Hospital Admin / System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072384"/>
            <a:ext cx="9144000" cy="54864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121"/>
                </a:solidFill>
                <a:latin typeface="Calibri"/>
              </a:defRPr>
            </a:pPr>
            <a:r>
              <a:t>  🔒  Layer 4: Validation  —  Pydantic input validation on all API requests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730752"/>
            <a:ext cx="9144000" cy="54864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121"/>
                </a:solidFill>
                <a:latin typeface="Calibri"/>
              </a:defRPr>
            </a:pPr>
            <a:r>
              <a:t>  🔒  Layer 5: ORM Protection  —  SQLAlchemy parameterized queries — SQL injection prevention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389120"/>
            <a:ext cx="9144000" cy="54864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121"/>
                </a:solidFill>
                <a:latin typeface="Calibri"/>
              </a:defRPr>
            </a:pPr>
            <a:r>
              <a:t>  🔒  Layer 6: Password Security  —  bcrypt hashing with configurable work 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047488"/>
            <a:ext cx="9144000" cy="548640"/>
          </a:xfrm>
          <a:prstGeom prst="roundRect">
            <a:avLst/>
          </a:prstGeom>
          <a:solidFill>
            <a:srgbClr val="FB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121"/>
                </a:solidFill>
                <a:latin typeface="Calibri"/>
              </a:defRPr>
            </a:pPr>
            <a:r>
              <a:t>  🔒  Layer 7: Audit Trail  —  Comprehensive logging of all critical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705856"/>
            <a:ext cx="91440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121"/>
                </a:solidFill>
                <a:latin typeface="Calibri"/>
              </a:defRPr>
            </a:pPr>
            <a:r>
              <a:t>  🔒  Layer 8: Soft Delete  —  Data preservation — records never permanently deleted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AI/ML Cancer Risk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19" y="1280160"/>
            <a:ext cx="640080" cy="6400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  <a:latin typeface="Calibri"/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Blood biomarkers</a:t>
            </a:r>
            <a:br/>
            <a:r>
              <a:t>Genetics</a:t>
            </a:r>
            <a:br/>
            <a:r>
              <a:t>Lifestyle factors</a:t>
            </a:r>
          </a:p>
        </p:txBody>
      </p:sp>
      <p:sp>
        <p:nvSpPr>
          <p:cNvPr id="7" name="Oval 6"/>
          <p:cNvSpPr/>
          <p:nvPr/>
        </p:nvSpPr>
        <p:spPr>
          <a:xfrm>
            <a:off x="3520439" y="1280160"/>
            <a:ext cx="640080" cy="6400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  <a:latin typeface="Calibri"/>
              </a:defRPr>
            </a:pPr>
            <a:r>
              <a:t>Pre-</a:t>
            </a:r>
            <a:br/>
            <a:r>
              <a:t>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8346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Feature engineering</a:t>
            </a:r>
            <a:br/>
            <a:r>
              <a:t>Normalization</a:t>
            </a:r>
            <a:br/>
            <a:r>
              <a:t>Missing data</a:t>
            </a:r>
          </a:p>
        </p:txBody>
      </p:sp>
      <p:sp>
        <p:nvSpPr>
          <p:cNvPr id="10" name="Oval 9"/>
          <p:cNvSpPr/>
          <p:nvPr/>
        </p:nvSpPr>
        <p:spPr>
          <a:xfrm>
            <a:off x="5852159" y="1280160"/>
            <a:ext cx="640080" cy="6400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  <a:latin typeface="Calibri"/>
              </a:defRPr>
            </a:pPr>
            <a:r>
              <a:t>Ensemble</a:t>
            </a:r>
            <a:br/>
            <a: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28346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TensorFlow DNN</a:t>
            </a:r>
            <a:br/>
            <a:r>
              <a:t>PyTorch</a:t>
            </a:r>
            <a:br/>
            <a:r>
              <a:t>XGBoost/LightGBM</a:t>
            </a:r>
          </a:p>
        </p:txBody>
      </p:sp>
      <p:sp>
        <p:nvSpPr>
          <p:cNvPr id="13" name="Oval 12"/>
          <p:cNvSpPr/>
          <p:nvPr/>
        </p:nvSpPr>
        <p:spPr>
          <a:xfrm>
            <a:off x="8183879" y="1280160"/>
            <a:ext cx="640080" cy="6400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  <a:latin typeface="Calibri"/>
              </a:defRPr>
            </a:pPr>
            <a:r>
              <a:t>Risk</a:t>
            </a:r>
            <a:br/>
            <a:r>
              <a:t>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8346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Risk score (0-1)</a:t>
            </a:r>
            <a:br/>
            <a:r>
              <a:t>Risk level</a:t>
            </a:r>
            <a:br/>
            <a:r>
              <a:t>Confidence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10515599" y="1280160"/>
            <a:ext cx="640080" cy="6400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19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  <a:latin typeface="Calibri"/>
              </a:defRPr>
            </a:pPr>
            <a:r>
              <a:t>Explain-</a:t>
            </a:r>
            <a:br/>
            <a:r>
              <a:t>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28346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SHAP values</a:t>
            </a:r>
            <a:br/>
            <a:r>
              <a:t>LIME</a:t>
            </a:r>
            <a:br/>
            <a:r>
              <a:t>Feature importance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  <a:latin typeface="Calibri"/>
              </a:defRPr>
            </a:pPr>
            <a:r>
              <a:t>Risk Levels: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64592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Very 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663440"/>
            <a:ext cx="1645920" cy="45720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663440"/>
            <a:ext cx="164592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Moderate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663440"/>
            <a:ext cx="1645920" cy="4572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663440"/>
            <a:ext cx="1645920" cy="4572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Very High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663440"/>
            <a:ext cx="1645920" cy="4572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Input Factors:  Blood biomarkers  •  Genetic variants  •  Family history  •  Lifestyle  •  Vitals  •  Medical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🧠  Multi-Model AI Ensemble</a:t>
            </a:r>
          </a:p>
          <a:p>
            <a:pPr>
              <a:defRPr sz="1200">
                <a:solidFill>
                  <a:srgbClr val="757575"/>
                </a:solidFill>
                <a:latin typeface="Calibri"/>
              </a:defRPr>
            </a:pPr>
            <a:r>
              <a:t>Not just one algorithm — combines deep learning (TensorFlow, PyTorch), gradient boosting (XGBoost, LightGBM, CatBoost), and classical ML for robust, explainable predictions.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39"/>
            <a:ext cx="1051560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📱  Cross-Platform</a:t>
            </a:r>
          </a:p>
          <a:p>
            <a:pPr>
              <a:defRPr sz="1200">
                <a:solidFill>
                  <a:srgbClr val="757575"/>
                </a:solidFill>
                <a:latin typeface="Calibri"/>
              </a:defRPr>
            </a:pPr>
            <a:r>
              <a:t>Consistent experience across Web (React), iOS, and Android (Expo/React Native) with a single shared FastAPI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51560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🏥  Full Hospital EHR</a:t>
            </a:r>
          </a:p>
          <a:p>
            <a:pPr>
              <a:defRPr sz="1200">
                <a:solidFill>
                  <a:srgbClr val="757575"/>
                </a:solidFill>
                <a:latin typeface="Calibri"/>
              </a:defRPr>
            </a:pPr>
            <a:r>
              <a:t>Not just patient-facing — comprehensive clinical operations: radiology, pathology, pharmacy, surgery, emergency, genomics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59"/>
            <a:ext cx="1051560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⌚  IoT &amp; Wearable Integration</a:t>
            </a:r>
          </a:p>
          <a:p>
            <a:pPr>
              <a:defRPr sz="1200">
                <a:solidFill>
                  <a:srgbClr val="757575"/>
                </a:solidFill>
                <a:latin typeface="Calibri"/>
              </a:defRPr>
            </a:pPr>
            <a:r>
              <a:t>22 wearable data tables for continuous monitoring: glucose (CGM), ECG, gait analysis, respiratory, sleep, fall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51560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🔬  Genomics-Ready</a:t>
            </a:r>
          </a:p>
          <a:p>
            <a:pPr>
              <a:defRPr sz="1200">
                <a:solidFill>
                  <a:srgbClr val="757575"/>
                </a:solidFill>
                <a:latin typeface="Calibri"/>
              </a:defRPr>
            </a:pPr>
            <a:r>
              <a:t>Built-in support for liquid biopsy, gene panels, pharmacogenomics, hereditary cancer assessment, and gene expression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API Overview — 457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Education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Quality &amp; Safety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Social Determinants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Supply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Hospitals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Telehealth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Wearables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Cancer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Clinical Trials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Emergency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Health Records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Pharmacy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Workforce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Blood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Pathology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Appointments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Mental Health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Blood Donor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Genomics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Nutrition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Clinical Decision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Rehabilitation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Research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Smartwatch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Population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Radiology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Demo &amp;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👤  User (Patient)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patient@cancerguard.ai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Patient@123456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🩺  Doctor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doctor@cancerguard.ai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Doctor@123456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🏥  Hospital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hospital.admin@cancerguard.ai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Hospital@123456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⚙️  System Admin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admin@cancerguard.ai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Admin@123456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840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http://localhost:8000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Swagger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297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http://localhost:8000/docs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Frontend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http://localhost:3000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Expo Go — scan QR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github.com/Hemakotibonthada/CancerDetector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47A1"/>
            </a:gs>
            <a:gs pos="100000">
              <a:srgbClr val="764BA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Calibri"/>
              </a:defRPr>
            </a:pPr>
            <a:r>
              <a:t>CancerGuard AI — Empowering Early Detection, Saving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github.com/Hemakotibonthada/CancerDetector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Calibri"/>
              </a:defRPr>
            </a:pPr>
            <a:r>
              <a:t>Built with  FastAPI  •  React  •  TensorFlow  •  Expo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